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Oswald Medium"/>
      <p:regular r:id="rId27"/>
      <p:bold r:id="rId28"/>
    </p:embeddedFont>
    <p:embeddedFont>
      <p:font typeface="Oswald Light"/>
      <p:regular r:id="rId29"/>
      <p:bold r:id="rId30"/>
    </p:embeddedFont>
    <p:embeddedFont>
      <p:font typeface="Open Sans ExtraBold"/>
      <p:bold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OswaldMedium-bold.fntdata"/><Relationship Id="rId27" Type="http://schemas.openxmlformats.org/officeDocument/2006/relationships/font" Target="fonts/Oswald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swald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ExtraBold-bold.fntdata"/><Relationship Id="rId30" Type="http://schemas.openxmlformats.org/officeDocument/2006/relationships/font" Target="fonts/OswaldLight-bold.fntdata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OpenSansExtraBold-boldItalic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650a9afbe_2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e650a9afb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650a9afbe_2_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650a9afbe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650a9afbe_2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650a9afb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650a9afbe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650a9afb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650a9afbe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65b5da42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65b5da42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65b5da42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65b5da42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650a9afb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650a9afbe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65b5da42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65b5da42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650a9afb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650a9afb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650a9afb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650a9afb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650a9afbe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650a9afb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650a9afb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650a9afb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650a9afb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650a9afb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650a9afb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650a9afb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65b5da42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65b5da42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65b5da42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65b5da42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9cf47c2e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9cf47c2e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65b5da42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65b5da42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9cf47c2e7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d9cf47c2e7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65b5da4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65b5da4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33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ademicBdlg.jpg" id="60" name="Google Shape;6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8344" y="155321"/>
            <a:ext cx="8747312" cy="484024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ctrTitle"/>
          </p:nvPr>
        </p:nvSpPr>
        <p:spPr>
          <a:xfrm>
            <a:off x="685800" y="202049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Oswald Medium"/>
              <a:buNone/>
              <a:defRPr b="0" i="0" sz="41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1371600" y="3176543"/>
            <a:ext cx="6400800" cy="8924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i="0" sz="1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697" y="762973"/>
            <a:ext cx="1096607" cy="833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-2225472" y="2474680"/>
            <a:ext cx="4847633" cy="19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5400000">
            <a:off x="6521839" y="2467292"/>
            <a:ext cx="4847633" cy="194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57200" y="1720517"/>
            <a:ext cx="4038600" cy="28741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700"/>
              <a:buChar char="•"/>
              <a:defRPr b="1" i="0" sz="17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4648200" y="1720517"/>
            <a:ext cx="4038600" cy="28741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700"/>
              <a:buChar char="•"/>
              <a:defRPr b="1" i="0" sz="17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457200" y="961738"/>
            <a:ext cx="8229600" cy="670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3300"/>
              <a:buFont typeface="Oswald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SCwall.psd" id="77" name="Google Shape;7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4954" y="156028"/>
            <a:ext cx="8754094" cy="483144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795353" y="1570076"/>
            <a:ext cx="7553295" cy="200334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1124712" y="2143125"/>
            <a:ext cx="6894576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600"/>
              <a:buFont typeface="Oswald Medium"/>
              <a:buNone/>
              <a:defRPr b="0" i="0" sz="2600">
                <a:solidFill>
                  <a:srgbClr val="500000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-2225472" y="2474680"/>
            <a:ext cx="4847633" cy="19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6521839" y="2467292"/>
            <a:ext cx="4847633" cy="194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1373" y="1246454"/>
            <a:ext cx="681254" cy="689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57201" y="183823"/>
            <a:ext cx="5562600" cy="692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swald Medium"/>
              <a:buNone/>
              <a:defRPr b="0" i="0" sz="21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109133"/>
            <a:ext cx="8229599" cy="34854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rgbClr val="500000"/>
              </a:buClr>
              <a:buSzPts val="24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1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18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None/>
              <a:defRPr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2700"/>
              <a:buFont typeface="Oswald Medium"/>
              <a:buNone/>
              <a:defRPr b="0" i="0" sz="2700" cap="none"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3E3E3E"/>
              </a:buClr>
              <a:buSzPts val="1200"/>
              <a:buNone/>
              <a:defRPr b="1" i="0" sz="1200">
                <a:solidFill>
                  <a:srgbClr val="3E3E3E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18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457200" y="961738"/>
            <a:ext cx="8229600" cy="6702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3300"/>
              <a:buFont typeface="Oswald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57200" y="1730324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700"/>
              <a:buNone/>
              <a:defRPr b="1" i="0" sz="17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457200" y="2210146"/>
            <a:ext cx="4040188" cy="23844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4645033" y="1730324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None/>
              <a:defRPr b="1" i="0" sz="1500"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4645033" y="2210146"/>
            <a:ext cx="4041775" cy="23844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04" name="Google Shape;104;p19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457208" y="964095"/>
            <a:ext cx="3008313" cy="7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500"/>
              <a:buFont typeface="Oswald Medium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575050" y="964096"/>
            <a:ext cx="5111750" cy="36305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rgbClr val="500000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4" name="Google Shape;114;p21"/>
          <p:cNvSpPr txBox="1"/>
          <p:nvPr>
            <p:ph idx="2" type="body"/>
          </p:nvPr>
        </p:nvSpPr>
        <p:spPr>
          <a:xfrm>
            <a:off x="457208" y="1869141"/>
            <a:ext cx="3008313" cy="27254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500000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500000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5" name="Google Shape;115;p2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1792288" y="3600452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500"/>
              <a:buFont typeface="Oswald Medium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/>
          <p:nvPr>
            <p:ph idx="2" type="pic"/>
          </p:nvPr>
        </p:nvSpPr>
        <p:spPr>
          <a:xfrm>
            <a:off x="1792288" y="983974"/>
            <a:ext cx="5486400" cy="2561708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1792288" y="4025507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500000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500000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500000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22" name="Google Shape;122;p2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897401"/>
            <a:ext cx="8229600" cy="6947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3300"/>
              <a:buFont typeface="Oswald Medium"/>
              <a:buNone/>
              <a:defRPr b="0" i="0" sz="3300" u="none" cap="none" strike="noStrike">
                <a:solidFill>
                  <a:srgbClr val="500000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89755"/>
            <a:ext cx="8229600" cy="29048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rgbClr val="5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5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500000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98344" y="160247"/>
            <a:ext cx="8747312" cy="694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251" y="526358"/>
            <a:ext cx="84894" cy="39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251" y="114390"/>
            <a:ext cx="84894" cy="3905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gif"/><Relationship Id="rId4" Type="http://schemas.openxmlformats.org/officeDocument/2006/relationships/image" Target="../media/image5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31.png"/><Relationship Id="rId7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ctrTitle"/>
          </p:nvPr>
        </p:nvSpPr>
        <p:spPr>
          <a:xfrm>
            <a:off x="598625" y="2244600"/>
            <a:ext cx="79950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/>
              <a:t>Steering Diffusion Language Models via Policy </a:t>
            </a:r>
            <a:r>
              <a:rPr lang="en"/>
              <a:t>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Oswald Medium"/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idx="1" type="subTitle"/>
          </p:nvPr>
        </p:nvSpPr>
        <p:spPr>
          <a:xfrm>
            <a:off x="1300700" y="3615435"/>
            <a:ext cx="64008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/>
              <a:t>Ajay Jagannath        Anant Mehta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lang="en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Code: https://github.com/anantmehta33/DLM_with_Policy</a:t>
            </a:r>
            <a:endParaRPr b="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4" title="autoregressive (2)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100" y="1851371"/>
            <a:ext cx="7113150" cy="17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299675" y="2485750"/>
            <a:ext cx="19926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540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700"/>
              <a:buNone/>
            </a:pPr>
            <a:r>
              <a:rPr lang="en"/>
              <a:t>Autoregressive Models</a:t>
            </a:r>
            <a:endParaRPr/>
          </a:p>
        </p:txBody>
      </p:sp>
      <p:sp>
        <p:nvSpPr>
          <p:cNvPr id="138" name="Google Shape;138;p24"/>
          <p:cNvSpPr txBox="1"/>
          <p:nvPr>
            <p:ph idx="2" type="body"/>
          </p:nvPr>
        </p:nvSpPr>
        <p:spPr>
          <a:xfrm>
            <a:off x="299675" y="3876775"/>
            <a:ext cx="27795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540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700"/>
              <a:buNone/>
            </a:pPr>
            <a:r>
              <a:rPr lang="en"/>
              <a:t>Masked Diffusion Language Models</a:t>
            </a:r>
            <a:endParaRPr/>
          </a:p>
        </p:txBody>
      </p:sp>
      <p:pic>
        <p:nvPicPr>
          <p:cNvPr id="139" name="Google Shape;139;p24" title="output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2350" y="3701849"/>
            <a:ext cx="4038601" cy="99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>
            <a:off x="732550" y="1103025"/>
            <a:ext cx="743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Is the autoregressive paradigm the only path to achieving the core capabilities of LLMs, such as scalability, in-context learning, and instruction-following?</a:t>
            </a:r>
            <a:endParaRPr sz="21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351500" y="193700"/>
            <a:ext cx="5889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Large Language Models</a:t>
            </a:r>
            <a:endParaRPr b="1"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591125" y="1737475"/>
            <a:ext cx="19926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540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700"/>
              <a:buNone/>
            </a:pPr>
            <a:r>
              <a:rPr lang="en"/>
              <a:t>Autoregressive Models</a:t>
            </a:r>
            <a:endParaRPr/>
          </a:p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591125" y="3128500"/>
            <a:ext cx="27795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540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700"/>
              <a:buNone/>
            </a:pPr>
            <a:r>
              <a:rPr lang="en"/>
              <a:t>Masked Diffusion Language Models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5200" y="1674475"/>
            <a:ext cx="3287075" cy="6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2050" y="3052775"/>
            <a:ext cx="3899124" cy="6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265425" y="236725"/>
            <a:ext cx="658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Towards Discrete Diffusion</a:t>
            </a:r>
            <a:endParaRPr b="1" sz="2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450" y="1157099"/>
            <a:ext cx="7235100" cy="36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 txBox="1"/>
          <p:nvPr/>
        </p:nvSpPr>
        <p:spPr>
          <a:xfrm>
            <a:off x="449675" y="256300"/>
            <a:ext cx="3174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During Inference..</a:t>
            </a:r>
            <a:endParaRPr sz="24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457200" y="1109133"/>
            <a:ext cx="8229600" cy="348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We use the popular </a:t>
            </a:r>
            <a:r>
              <a:rPr lang="en"/>
              <a:t>LLaDA models (</a:t>
            </a:r>
            <a:r>
              <a:rPr b="1" lang="en"/>
              <a:t>1.5B and 8B</a:t>
            </a:r>
            <a:r>
              <a:rPr lang="en"/>
              <a:t>) for our study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t/>
            </a:r>
            <a:endParaRPr/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457201" y="183823"/>
            <a:ext cx="5562600" cy="693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Diffusion </a:t>
            </a:r>
            <a:r>
              <a:rPr lang="en"/>
              <a:t>Language</a:t>
            </a:r>
            <a:r>
              <a:rPr lang="en"/>
              <a:t> Model in this study</a:t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00" y="1987100"/>
            <a:ext cx="8856674" cy="26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/>
        </p:nvSpPr>
        <p:spPr>
          <a:xfrm>
            <a:off x="373025" y="4655700"/>
            <a:ext cx="8723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Nie, Shen, et al. "Large language diffusion models." arXiv preprint arXiv:2502.09992 (2025).</a:t>
            </a:r>
            <a:endParaRPr sz="7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457201" y="183823"/>
            <a:ext cx="5562600" cy="693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interesting? </a:t>
            </a:r>
            <a:endParaRPr/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457200" y="1109133"/>
            <a:ext cx="8229600" cy="348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60401"/>
            <a:ext cx="8364500" cy="225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/>
        </p:nvSpPr>
        <p:spPr>
          <a:xfrm>
            <a:off x="688675" y="3472050"/>
            <a:ext cx="78891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Despite getting trained on much less tokens as compared to </a:t>
            </a:r>
            <a:r>
              <a:rPr b="1" lang="en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AR,</a:t>
            </a:r>
            <a:r>
              <a:rPr lang="en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i="1" lang="en" sz="2000" u="sng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LLaMA</a:t>
            </a:r>
            <a:r>
              <a:rPr lang="en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i="1" lang="en" sz="2000" u="sng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LLaDA</a:t>
            </a:r>
            <a:r>
              <a:rPr lang="en" sz="20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 performances are comparable!!!!</a:t>
            </a:r>
            <a:endParaRPr sz="20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00" y="1011925"/>
            <a:ext cx="8308500" cy="404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/>
        </p:nvSpPr>
        <p:spPr>
          <a:xfrm>
            <a:off x="420975" y="256300"/>
            <a:ext cx="3174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Remasking at Inference</a:t>
            </a:r>
            <a:endParaRPr sz="24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4892425" y="2741750"/>
            <a:ext cx="3264000" cy="13545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Baseline is the confidence-based remasking!!!</a:t>
            </a:r>
            <a:endParaRPr sz="24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2625550" y="3436175"/>
            <a:ext cx="157800" cy="3465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457200" y="1109133"/>
            <a:ext cx="8229600" cy="348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spcBef>
                <a:spcPts val="5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Heuristic-driven decoding is suboptimal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Methods like </a:t>
            </a:r>
            <a:r>
              <a:rPr lang="en" sz="1700">
                <a:solidFill>
                  <a:srgbClr val="FF9900"/>
                </a:solidFill>
              </a:rPr>
              <a:t>low-confidence remasking</a:t>
            </a:r>
            <a:r>
              <a:rPr lang="en" sz="1700"/>
              <a:t> are hand-designed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Do not adapt to </a:t>
            </a:r>
            <a:r>
              <a:rPr lang="en" sz="1700">
                <a:solidFill>
                  <a:schemeClr val="accent6"/>
                </a:solidFill>
              </a:rPr>
              <a:t>task-specific</a:t>
            </a:r>
            <a:r>
              <a:rPr lang="en" sz="1700"/>
              <a:t> structure or constraints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Diffusion trajectory is crucial during inference!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Lack of adaptivity </a:t>
            </a:r>
            <a:endParaRPr sz="1700"/>
          </a:p>
          <a:p>
            <a:pPr indent="0" lvl="0" marL="9144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900"/>
              <a:t>Thus,</a:t>
            </a:r>
            <a:r>
              <a:rPr b="1" lang="en" sz="1900"/>
              <a:t> </a:t>
            </a:r>
            <a:endParaRPr b="1" sz="19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1" lang="en" sz="1900"/>
              <a:t>Remasking</a:t>
            </a:r>
            <a:r>
              <a:rPr i="1" lang="en" sz="1900"/>
              <a:t> = sequential decision-making problem </a:t>
            </a:r>
            <a:endParaRPr i="1" sz="19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i="1" lang="en" sz="1900"/>
              <a:t>This can be learned via RL instead of fixed rules!!</a:t>
            </a:r>
            <a:endParaRPr i="1" sz="1900"/>
          </a:p>
        </p:txBody>
      </p:sp>
      <p:sp>
        <p:nvSpPr>
          <p:cNvPr id="186" name="Google Shape;186;p30"/>
          <p:cNvSpPr txBox="1"/>
          <p:nvPr>
            <p:ph type="title"/>
          </p:nvPr>
        </p:nvSpPr>
        <p:spPr>
          <a:xfrm>
            <a:off x="457201" y="183823"/>
            <a:ext cx="5562600" cy="693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Idea hits the core of </a:t>
            </a:r>
            <a:r>
              <a:rPr lang="en"/>
              <a:t>inference</a:t>
            </a:r>
            <a:r>
              <a:rPr lang="en"/>
              <a:t> </a:t>
            </a:r>
            <a:endParaRPr/>
          </a:p>
        </p:txBody>
      </p: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800" y="3109771"/>
            <a:ext cx="1246650" cy="16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/>
        </p:nvSpPr>
        <p:spPr>
          <a:xfrm>
            <a:off x="456850" y="299325"/>
            <a:ext cx="58200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Policy-Based remasking v/s Confidence-Based</a:t>
            </a:r>
            <a:endParaRPr sz="24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668" y="3244925"/>
            <a:ext cx="2716532" cy="2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/>
        </p:nvSpPr>
        <p:spPr>
          <a:xfrm>
            <a:off x="4483200" y="3607175"/>
            <a:ext cx="41712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The policy outputs per-token keep probabilities.</a:t>
            </a:r>
            <a:endParaRPr sz="1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aseline="-25000" lang="en" sz="1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t,i</a:t>
            </a:r>
            <a:r>
              <a:rPr lang="en" sz="1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 ∈ {0, 1} indicates whether token “i” is kept (unmasked). </a:t>
            </a:r>
            <a:endParaRPr sz="1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100"/>
              <a:buFont typeface="Open Sans"/>
              <a:buChar char="●"/>
            </a:pPr>
            <a:r>
              <a:rPr lang="en" sz="1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Actions are sampled independently with constraints enforced for fixed tokens.</a:t>
            </a:r>
            <a:endParaRPr sz="1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5" name="Google Shape;1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400" y="3901363"/>
            <a:ext cx="2658303" cy="34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31"/>
          <p:cNvCxnSpPr/>
          <p:nvPr/>
        </p:nvCxnSpPr>
        <p:spPr>
          <a:xfrm rot="10800000">
            <a:off x="1485325" y="3740250"/>
            <a:ext cx="0" cy="14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31"/>
          <p:cNvCxnSpPr/>
          <p:nvPr/>
        </p:nvCxnSpPr>
        <p:spPr>
          <a:xfrm rot="10800000">
            <a:off x="2500800" y="3740250"/>
            <a:ext cx="0" cy="14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31"/>
          <p:cNvSpPr txBox="1"/>
          <p:nvPr/>
        </p:nvSpPr>
        <p:spPr>
          <a:xfrm>
            <a:off x="838775" y="3244913"/>
            <a:ext cx="135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" sz="9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mbedding of current token (including masked state)</a:t>
            </a:r>
            <a:endParaRPr sz="22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2244025" y="3515525"/>
            <a:ext cx="62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Entropy</a:t>
            </a:r>
            <a:endParaRPr sz="22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0" name="Google Shape;200;p31"/>
          <p:cNvCxnSpPr/>
          <p:nvPr/>
        </p:nvCxnSpPr>
        <p:spPr>
          <a:xfrm>
            <a:off x="2131875" y="4216675"/>
            <a:ext cx="0" cy="15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31"/>
          <p:cNvCxnSpPr/>
          <p:nvPr/>
        </p:nvCxnSpPr>
        <p:spPr>
          <a:xfrm>
            <a:off x="2982775" y="4200625"/>
            <a:ext cx="0" cy="15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31"/>
          <p:cNvSpPr txBox="1"/>
          <p:nvPr/>
        </p:nvSpPr>
        <p:spPr>
          <a:xfrm>
            <a:off x="2720675" y="4247875"/>
            <a:ext cx="10449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" sz="9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ormalized timestep t/T</a:t>
            </a:r>
            <a:endParaRPr sz="9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1550025" y="4264700"/>
            <a:ext cx="1205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Normalized probabilities over all the valid tokens</a:t>
            </a:r>
            <a:endParaRPr sz="9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6293" y="1478624"/>
            <a:ext cx="3240258" cy="151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225" y="2072725"/>
            <a:ext cx="1182262" cy="3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1424" y="2113237"/>
            <a:ext cx="1614251" cy="2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3417875" y="1002375"/>
            <a:ext cx="16971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Policy Network</a:t>
            </a:r>
            <a:endParaRPr sz="15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8" name="Google Shape;208;p31"/>
          <p:cNvCxnSpPr>
            <a:endCxn id="204" idx="1"/>
          </p:cNvCxnSpPr>
          <p:nvPr/>
        </p:nvCxnSpPr>
        <p:spPr>
          <a:xfrm>
            <a:off x="1969493" y="2226149"/>
            <a:ext cx="676800" cy="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31"/>
          <p:cNvCxnSpPr>
            <a:stCxn id="204" idx="3"/>
            <a:endCxn id="206" idx="1"/>
          </p:cNvCxnSpPr>
          <p:nvPr/>
        </p:nvCxnSpPr>
        <p:spPr>
          <a:xfrm>
            <a:off x="5886551" y="2234849"/>
            <a:ext cx="60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/>
        </p:nvSpPr>
        <p:spPr>
          <a:xfrm>
            <a:off x="456850" y="299325"/>
            <a:ext cx="3174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Dataset</a:t>
            </a:r>
            <a:endParaRPr sz="24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15" name="Google Shape;21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62" y="1574250"/>
            <a:ext cx="2448587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1531900" y="1221750"/>
            <a:ext cx="1992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540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700"/>
              <a:buNone/>
            </a:pPr>
            <a:r>
              <a:rPr lang="en"/>
              <a:t>4x4 Sudoku</a:t>
            </a:r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4166400" y="1274700"/>
            <a:ext cx="4977600" cy="27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Tokens Needed: 1,2,3,4.</a:t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Total States: 16</a:t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=&gt; Zeroes depict the answers to be filled in.</a:t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Sample Input: 3102200002100320</a:t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Ground Truth: 3142243142131324</a:t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Training Set: 100 Samples</a:t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Test</a:t>
            </a:r>
            <a:r>
              <a:rPr lang="en" sz="17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 Set: 500 Samples</a:t>
            </a:r>
            <a:endParaRPr sz="17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456850" y="4552425"/>
            <a:ext cx="8420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Datasets taken from “Siyan Zhao, Devaansh Gupta, Qinqing Zheng, and Aditya Grover. d1: Scaling reasoning in diffusion large language models via reinforcement learning. arXiv preprint arXiv:2504.12216, 2025.”</a:t>
            </a:r>
            <a:endParaRPr sz="11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6119125" y="1355800"/>
            <a:ext cx="1999200" cy="5811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rPr>
              <a:t>Remark: </a:t>
            </a:r>
            <a:r>
              <a:rPr b="1" lang="en" sz="1000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b="1" baseline="30000" lang="en" sz="1000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lang="en" sz="1000">
                <a:solidFill>
                  <a:srgbClr val="20124D"/>
                </a:solidFill>
                <a:latin typeface="Open Sans"/>
                <a:ea typeface="Open Sans"/>
                <a:cs typeface="Open Sans"/>
                <a:sym typeface="Open Sans"/>
              </a:rPr>
              <a:t> are normalized probabilities over {1,2,3,4}!!</a:t>
            </a:r>
            <a:endParaRPr b="1" sz="1000">
              <a:solidFill>
                <a:srgbClr val="20124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/>
        </p:nvSpPr>
        <p:spPr>
          <a:xfrm>
            <a:off x="456850" y="299325"/>
            <a:ext cx="3514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Reward Design</a:t>
            </a:r>
            <a:endParaRPr sz="24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25" name="Google Shape;22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76125"/>
            <a:ext cx="8839200" cy="82413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/>
        </p:nvSpPr>
        <p:spPr>
          <a:xfrm>
            <a:off x="747050" y="1075250"/>
            <a:ext cx="6869700" cy="12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At each time step, reward calculated based on the following factors:</a:t>
            </a:r>
            <a:endParaRPr sz="16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duplicates in each row</a:t>
            </a:r>
            <a:endParaRPr sz="16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duplicates in each column</a:t>
            </a:r>
            <a:endParaRPr sz="16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1600"/>
              <a:buFont typeface="Open Sans"/>
              <a:buChar char="●"/>
            </a:pPr>
            <a:r>
              <a:rPr lang="en" sz="16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duplicates in each 2x2 subgrid</a:t>
            </a:r>
            <a:endParaRPr sz="16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570350" y="3532750"/>
            <a:ext cx="43761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Dense improvement reward:</a:t>
            </a:r>
            <a:endParaRPr b="1" sz="16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8" name="Google Shape;22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200" y="3578425"/>
            <a:ext cx="2460150" cy="34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33"/>
          <p:cNvCxnSpPr/>
          <p:nvPr/>
        </p:nvCxnSpPr>
        <p:spPr>
          <a:xfrm rot="10800000">
            <a:off x="5631850" y="3922475"/>
            <a:ext cx="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33"/>
          <p:cNvSpPr txBox="1"/>
          <p:nvPr/>
        </p:nvSpPr>
        <p:spPr>
          <a:xfrm>
            <a:off x="4401700" y="4261325"/>
            <a:ext cx="24603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argmax(logits of valid tokens)</a:t>
            </a:r>
            <a:endParaRPr sz="13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/>
        </p:nvSpPr>
        <p:spPr>
          <a:xfrm>
            <a:off x="456850" y="299325"/>
            <a:ext cx="3514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Reinforce Algorithm</a:t>
            </a:r>
            <a:endParaRPr sz="24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335" y="3932833"/>
            <a:ext cx="1582170" cy="35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1650" y="3908626"/>
            <a:ext cx="3732143" cy="32768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/>
          <p:nvPr/>
        </p:nvSpPr>
        <p:spPr>
          <a:xfrm>
            <a:off x="431770" y="3562248"/>
            <a:ext cx="43920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6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Return for a trajectory</a:t>
            </a:r>
            <a:endParaRPr sz="1576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34"/>
          <p:cNvSpPr txBox="1"/>
          <p:nvPr/>
        </p:nvSpPr>
        <p:spPr>
          <a:xfrm>
            <a:off x="4071724" y="3562256"/>
            <a:ext cx="43920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6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Final Loss </a:t>
            </a:r>
            <a:r>
              <a:rPr lang="en" sz="1576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equation</a:t>
            </a:r>
            <a:endParaRPr sz="1576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0" name="Google Shape;240;p34"/>
          <p:cNvCxnSpPr/>
          <p:nvPr/>
        </p:nvCxnSpPr>
        <p:spPr>
          <a:xfrm rot="10800000">
            <a:off x="7560792" y="4225925"/>
            <a:ext cx="0" cy="238200"/>
          </a:xfrm>
          <a:prstGeom prst="straightConnector1">
            <a:avLst/>
          </a:prstGeom>
          <a:noFill/>
          <a:ln cap="flat" cmpd="sng" w="62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34"/>
          <p:cNvSpPr txBox="1"/>
          <p:nvPr/>
        </p:nvSpPr>
        <p:spPr>
          <a:xfrm>
            <a:off x="7744699" y="4214675"/>
            <a:ext cx="11736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25" lIns="60025" spcFirstLastPara="1" rIns="60025" wrap="square" tIns="60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22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Moving average of batch returns</a:t>
            </a:r>
            <a:endParaRPr sz="1022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4071725" y="1780125"/>
            <a:ext cx="25758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rgbClr val="500000"/>
                </a:solidFill>
                <a:latin typeface="Oswald Medium"/>
                <a:ea typeface="Oswald Medium"/>
                <a:cs typeface="Oswald Medium"/>
                <a:sym typeface="Oswald Medium"/>
              </a:rPr>
              <a:t>Why</a:t>
            </a:r>
            <a:r>
              <a:rPr lang="en" sz="2000">
                <a:solidFill>
                  <a:srgbClr val="500000"/>
                </a:solidFill>
                <a:latin typeface="Oswald Medium"/>
                <a:ea typeface="Oswald Medium"/>
                <a:cs typeface="Oswald Medium"/>
                <a:sym typeface="Oswald Medium"/>
              </a:rPr>
              <a:t>:</a:t>
            </a:r>
            <a:r>
              <a:rPr lang="en" sz="2000">
                <a:solidFill>
                  <a:srgbClr val="500000"/>
                </a:solidFill>
                <a:latin typeface="Oswald Light"/>
                <a:ea typeface="Oswald Light"/>
                <a:cs typeface="Oswald Light"/>
                <a:sym typeface="Oswald Light"/>
              </a:rPr>
              <a:t> Simple, lightweight with no value network for policy evaluation</a:t>
            </a:r>
            <a:endParaRPr sz="2000">
              <a:solidFill>
                <a:srgbClr val="500000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243" name="Google Shape;24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232" y="1229100"/>
            <a:ext cx="2360769" cy="2120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34"/>
          <p:cNvCxnSpPr/>
          <p:nvPr/>
        </p:nvCxnSpPr>
        <p:spPr>
          <a:xfrm rot="10800000">
            <a:off x="7560800" y="4464125"/>
            <a:ext cx="19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/>
        </p:nvSpPr>
        <p:spPr>
          <a:xfrm>
            <a:off x="456850" y="299325"/>
            <a:ext cx="3174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Main Results</a:t>
            </a:r>
            <a:endParaRPr sz="24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50" name="Google Shape;25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361" y="1209775"/>
            <a:ext cx="6389274" cy="347022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5"/>
          <p:cNvSpPr/>
          <p:nvPr/>
        </p:nvSpPr>
        <p:spPr>
          <a:xfrm>
            <a:off x="1133450" y="1366650"/>
            <a:ext cx="243900" cy="24963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2" name="Google Shape;25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9700" y="3389525"/>
            <a:ext cx="836925" cy="5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1250" y="2213050"/>
            <a:ext cx="836925" cy="5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/>
        </p:nvSpPr>
        <p:spPr>
          <a:xfrm>
            <a:off x="385125" y="256300"/>
            <a:ext cx="31743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Reward Trends</a:t>
            </a:r>
            <a:endParaRPr sz="2400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259" name="Google Shape;25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75" y="1352475"/>
            <a:ext cx="5703549" cy="28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8100" y="1424058"/>
            <a:ext cx="2984500" cy="144561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6"/>
          <p:cNvSpPr txBox="1"/>
          <p:nvPr/>
        </p:nvSpPr>
        <p:spPr>
          <a:xfrm>
            <a:off x="431675" y="4326050"/>
            <a:ext cx="84042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As expected in both cases, </a:t>
            </a:r>
            <a:r>
              <a:rPr lang="en" sz="24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reward increases with steps</a:t>
            </a:r>
            <a:endParaRPr sz="24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2" name="Google Shape;26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1175" y="2796226"/>
            <a:ext cx="1372500" cy="13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457200" y="1109133"/>
            <a:ext cx="8229600" cy="348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7"/>
          <p:cNvSpPr txBox="1"/>
          <p:nvPr>
            <p:ph type="title"/>
          </p:nvPr>
        </p:nvSpPr>
        <p:spPr>
          <a:xfrm>
            <a:off x="457201" y="183823"/>
            <a:ext cx="5562600" cy="693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Ablations: </a:t>
            </a:r>
            <a:r>
              <a:rPr lang="en" sz="2400"/>
              <a:t>Training with different steps</a:t>
            </a:r>
            <a:endParaRPr sz="2400"/>
          </a:p>
        </p:txBody>
      </p:sp>
      <p:pic>
        <p:nvPicPr>
          <p:cNvPr id="269" name="Google Shape;26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48" y="1109123"/>
            <a:ext cx="5518849" cy="33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7"/>
          <p:cNvSpPr txBox="1"/>
          <p:nvPr/>
        </p:nvSpPr>
        <p:spPr>
          <a:xfrm>
            <a:off x="5746100" y="1144425"/>
            <a:ext cx="3213900" cy="16605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Policy Network trained with more diffusion steps is indeed better!!</a:t>
            </a:r>
            <a:endParaRPr i="1" sz="24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37"/>
          <p:cNvSpPr txBox="1"/>
          <p:nvPr/>
        </p:nvSpPr>
        <p:spPr>
          <a:xfrm>
            <a:off x="3027275" y="3536600"/>
            <a:ext cx="2410500" cy="1794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37"/>
          <p:cNvSpPr txBox="1"/>
          <p:nvPr/>
        </p:nvSpPr>
        <p:spPr>
          <a:xfrm>
            <a:off x="5882400" y="2955500"/>
            <a:ext cx="3012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Even with </a:t>
            </a:r>
            <a:r>
              <a:rPr b="1" lang="en" sz="18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2 steps</a:t>
            </a:r>
            <a:r>
              <a:rPr lang="en" sz="18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 during inference we are able to perform very well </a:t>
            </a:r>
            <a:r>
              <a:rPr lang="en" sz="1800">
                <a:solidFill>
                  <a:srgbClr val="500000"/>
                </a:solidFill>
                <a:latin typeface="Open Sans"/>
                <a:ea typeface="Open Sans"/>
                <a:cs typeface="Open Sans"/>
                <a:sym typeface="Open Sans"/>
              </a:rPr>
              <a:t>given policy is trained well</a:t>
            </a:r>
            <a:endParaRPr sz="1800">
              <a:solidFill>
                <a:srgbClr val="5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idx="1" type="body"/>
          </p:nvPr>
        </p:nvSpPr>
        <p:spPr>
          <a:xfrm>
            <a:off x="457200" y="1109133"/>
            <a:ext cx="8229600" cy="348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5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Learned policies </a:t>
            </a:r>
            <a:r>
              <a:rPr b="1" lang="en" sz="2100"/>
              <a:t>outperform</a:t>
            </a:r>
            <a:r>
              <a:rPr lang="en" sz="2100"/>
              <a:t> fixed heuristics across settings in reverse diffusion at inference-time for MDLMs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100"/>
              <a:buChar char="○"/>
            </a:pPr>
            <a:r>
              <a:rPr lang="en" sz="2100">
                <a:solidFill>
                  <a:srgbClr val="073763"/>
                </a:solidFill>
              </a:rPr>
              <a:t>We show consistent gains across steps and training regimes</a:t>
            </a:r>
            <a:endParaRPr sz="2100">
              <a:solidFill>
                <a:srgbClr val="073763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100"/>
              <a:buChar char="○"/>
            </a:pPr>
            <a:r>
              <a:rPr lang="en" sz="2100">
                <a:solidFill>
                  <a:srgbClr val="073763"/>
                </a:solidFill>
              </a:rPr>
              <a:t>Gains increase with more robust/well-trained policies (more epochs, steps)</a:t>
            </a:r>
            <a:endParaRPr sz="2100"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  <a:p>
            <a:pPr indent="-361950" lvl="0" marL="457200" rtl="0" algn="l">
              <a:spcBef>
                <a:spcPts val="5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Inference-time optimization is </a:t>
            </a:r>
            <a:r>
              <a:rPr b="1" lang="en" sz="2100"/>
              <a:t>powerful</a:t>
            </a:r>
            <a:endParaRPr b="1"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100"/>
              <a:buChar char="○"/>
            </a:pPr>
            <a:r>
              <a:rPr lang="en">
                <a:solidFill>
                  <a:srgbClr val="073763"/>
                </a:solidFill>
              </a:rPr>
              <a:t>Gains come purely from better decoding decisions</a:t>
            </a:r>
            <a:endParaRPr>
              <a:solidFill>
                <a:srgbClr val="073763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100"/>
              <a:buChar char="○"/>
            </a:pPr>
            <a:r>
              <a:rPr lang="en">
                <a:solidFill>
                  <a:srgbClr val="073763"/>
                </a:solidFill>
              </a:rPr>
              <a:t>No change to backbone (frozen LLaDA)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278" name="Google Shape;278;p38"/>
          <p:cNvSpPr txBox="1"/>
          <p:nvPr>
            <p:ph type="title"/>
          </p:nvPr>
        </p:nvSpPr>
        <p:spPr>
          <a:xfrm>
            <a:off x="457201" y="183823"/>
            <a:ext cx="5562600" cy="693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</a:t>
            </a:r>
            <a:r>
              <a:rPr lang="en"/>
              <a:t> and Discussion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type="title"/>
          </p:nvPr>
        </p:nvSpPr>
        <p:spPr>
          <a:xfrm>
            <a:off x="457201" y="183823"/>
            <a:ext cx="5562600" cy="693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 and Discussion</a:t>
            </a:r>
            <a:endParaRPr/>
          </a:p>
        </p:txBody>
      </p:sp>
      <p:sp>
        <p:nvSpPr>
          <p:cNvPr id="284" name="Google Shape;284;p39"/>
          <p:cNvSpPr txBox="1"/>
          <p:nvPr>
            <p:ph idx="1" type="body"/>
          </p:nvPr>
        </p:nvSpPr>
        <p:spPr>
          <a:xfrm>
            <a:off x="457200" y="876833"/>
            <a:ext cx="8229600" cy="348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We show that t</a:t>
            </a:r>
            <a:r>
              <a:rPr lang="en"/>
              <a:t>oken refinement can be strategically </a:t>
            </a:r>
            <a:r>
              <a:rPr b="1" lang="en"/>
              <a:t>guided</a:t>
            </a:r>
            <a:endParaRPr b="1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100"/>
              <a:buChar char="○"/>
            </a:pPr>
            <a:r>
              <a:rPr lang="en">
                <a:solidFill>
                  <a:srgbClr val="073763"/>
                </a:solidFill>
              </a:rPr>
              <a:t>Not just iterative denoising, but decision-making</a:t>
            </a:r>
            <a:endParaRPr>
              <a:solidFill>
                <a:srgbClr val="073763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73763"/>
              </a:solidFill>
            </a:endParaRPr>
          </a:p>
        </p:txBody>
      </p:sp>
      <p:pic>
        <p:nvPicPr>
          <p:cNvPr id="285" name="Google Shape;28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5750" y="2418050"/>
            <a:ext cx="3839372" cy="27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457200" y="1109133"/>
            <a:ext cx="8229600" cy="348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5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Exploring plug and play policies for different tasks at inference-time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Learn policies that reduce number of diffusion steps and yet give comparable results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Co-train diffusion model and policy for end-to-end improvement</a:t>
            </a:r>
            <a:endParaRPr sz="1800"/>
          </a:p>
        </p:txBody>
      </p:sp>
      <p:sp>
        <p:nvSpPr>
          <p:cNvPr id="291" name="Google Shape;291;p40"/>
          <p:cNvSpPr txBox="1"/>
          <p:nvPr>
            <p:ph type="title"/>
          </p:nvPr>
        </p:nvSpPr>
        <p:spPr>
          <a:xfrm>
            <a:off x="457201" y="183823"/>
            <a:ext cx="5562600" cy="693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pic>
        <p:nvPicPr>
          <p:cNvPr id="292" name="Google Shape;2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075" y="2651700"/>
            <a:ext cx="5800126" cy="219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/>
          <p:nvPr>
            <p:ph idx="1" type="body"/>
          </p:nvPr>
        </p:nvSpPr>
        <p:spPr>
          <a:xfrm>
            <a:off x="457200" y="1109133"/>
            <a:ext cx="8229600" cy="348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Both members of the team </a:t>
            </a:r>
            <a:r>
              <a:rPr lang="en" sz="2000"/>
              <a:t>collaborated</a:t>
            </a:r>
            <a:r>
              <a:rPr lang="en" sz="2000"/>
              <a:t> in the full ideation of the project, as well as project report and presentation</a:t>
            </a:r>
            <a:endParaRPr sz="20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Policy training Pipeline was setup by Ajay.</a:t>
            </a:r>
            <a:endParaRPr sz="2000"/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Evaluation pipeline was setup by Anant.</a:t>
            </a:r>
            <a:endParaRPr sz="2000"/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All the experiments related to LLaDA-1.5B was done by Anant.</a:t>
            </a:r>
            <a:endParaRPr sz="20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All the experiments related to LLaDA-8B-Base was done by Ajay.</a:t>
            </a:r>
            <a:endParaRPr sz="2000"/>
          </a:p>
        </p:txBody>
      </p:sp>
      <p:sp>
        <p:nvSpPr>
          <p:cNvPr id="298" name="Google Shape;298;p41"/>
          <p:cNvSpPr txBox="1"/>
          <p:nvPr>
            <p:ph type="title"/>
          </p:nvPr>
        </p:nvSpPr>
        <p:spPr>
          <a:xfrm>
            <a:off x="457201" y="183823"/>
            <a:ext cx="5562600" cy="693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Division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/>
          <p:nvPr>
            <p:ph type="title"/>
          </p:nvPr>
        </p:nvSpPr>
        <p:spPr>
          <a:xfrm>
            <a:off x="1124712" y="2143125"/>
            <a:ext cx="6894600" cy="85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